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0" y="2286000"/>
            <a:ext cx="12191695" cy="9144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545775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>
                <a:solidFill>
                  <a:srgbClr val="1F3A5F"/>
                </a:solidFill>
                <a:latin typeface="Arial"/>
              </a:rPr>
              <a:t>武汉—上海跨城光钟网络比对实验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514600"/>
            <a:ext cx="10545775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2E6DA4"/>
                </a:solidFill>
                <a:latin typeface="Arial"/>
              </a:rPr>
              <a:t>IAPMST 镱钟（武汉） × USTC 锶钟（上海）· 约 700 km · 1350 km 光纤链路</a:t>
            </a:r>
          </a:p>
          <a:p>
            <a:r>
              <a:rPr sz="2000" b="0">
                <a:solidFill>
                  <a:srgbClr val="2E6DA4"/>
                </a:solidFill>
                <a:latin typeface="Arial"/>
              </a:rPr>
              <a:t>实验情况介绍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4023360"/>
            <a:ext cx="1054577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444444"/>
                </a:solidFill>
                <a:latin typeface="Arial"/>
              </a:rPr>
              <a:t>数据：2026-06-29 — 2026-08-26（北京时间）· 17 个无跳点段 · 1,008,912 个 1 s 样本</a:t>
            </a:r>
          </a:p>
          <a:p>
            <a:r>
              <a:rPr sz="1500" b="0">
                <a:solidFill>
                  <a:srgbClr val="444444"/>
                </a:solidFill>
                <a:latin typeface="Arial"/>
              </a:rPr>
              <a:t>主结果：Yb/Sr = 1.207 507 039 343 337 7213(23)（未修正）· 与 NIST–JILA 在 10⁻¹⁸ 量级相符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实验概览与主要结果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60020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网络：IAPMST 镱钟（武汉）↔ USTC 锶钟（上海），不同机构、不同钟种、相距约 700 km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链路：相位稳定 1550 nm 光纤，单程约 1350 km（环回约 2700 km），环回净化结构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数据：58 天 3 个测量阶段，17 个连续无跳点段，1,008,912 s（280 h）有效数据（占空比约 20%）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Yb/Sr 比值（未修正）：1.207 507 039 343 337 7213(23)；潮汐修正后为 …7215(23)（作比较）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  与 NIST–JILA 1.207 507 039 343 337 7230(37) 偏差 −1.7×10⁻¹⁸；与欧洲网络 …718(32) 偏差 +3.3×10⁻¹⁸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统计不确定度（贝叶斯）：0.75×10⁻¹⁸（仅钟统计噪声，不含钟评估）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总不确定度（stat + 钟系统 + 高程，不含 tide model/link/comb）：1.90×10⁻¹⁸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潮汐引力红移调制：6.4σ 检出（14/17 段同号；符号无关 Stouffer |z|=5.87）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来源：docs/raw/潮汐修正后的比值计算.docx；clock_ratio/statistical_methods_tidal.json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网络构成与光纤链路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Arial"/>
              </a:rPr>
              <a:t>上行：上海端 Sr 钟 → 1397 nm → 1550 nm；下行：武汉端 1550 nm → 1156 nm → Yb 钟</a:t>
            </a:r>
          </a:p>
        </p:txBody>
      </p:sp>
      <p:pic>
        <p:nvPicPr>
          <p:cNvPr id="5" name="Picture 4" descr="batch_shared_ax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645920"/>
            <a:ext cx="5577840" cy="551752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1645920"/>
            <a:ext cx="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Arial"/>
              </a:rPr>
              <a:t>• 两端：上海（Sr 光晶格钟，USTC）与 武汉（Yb 光晶格钟，IAPMST/CAS）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Arial"/>
              </a:rPr>
              <a:t>• 上海端：Sr 698 nm → 1397 nm 载波 → 光梳 → 1550 nm 电信波段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Arial"/>
              </a:rPr>
              <a:t>• 武汉端：光梳将接收的 1550 nm 载波与 1156 nm 基频光相干连接 → 578 nm Yb 钟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Arial"/>
              </a:rPr>
              <a:t>• 链路：环回（loop-back）+ 沿线中继站净化放大，往返约 2700 km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Arial"/>
              </a:rPr>
              <a:t>• 中继：合肥广电等站点，单段长度 22–84 km；链路附加不稳定度在 &gt;100 s 尺度低于钟噪声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Arial"/>
              </a:rPr>
              <a:t>• 两钟同时锁定：数据受两钟与光梳链同时锁定门控（占空比约 20%）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来源：docs/raw/上研院至武汉精测院光纤链路参数及设备安装情况(1).pptx；光钟比对论文 hj.docx §2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观测活动与数据段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Arial"/>
              </a:rPr>
              <a:t>三段实验：7 月（第 1–8 段）、8 月上旬（9–14 段）、8 月下旬（15–17 段）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583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</a:tblGrid>
              <a:tr h="475488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阶段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段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时间（北京时）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有效点数 s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1–8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6.29 – 7.7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33 万+（含重启）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9–14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8.7 – 8.15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38 万+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15–17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8.21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27 万+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合计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6.29 – 8.26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1 008 912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406640" y="1737360"/>
            <a:ext cx="4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段选取：窗口 → 去扣除区间 → 去 &gt;10 Hz 跳点 → 取最长有效索引段 → 起止点裁剪（偏离中值 &lt; 峰峰值 1%）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重启复现性：第 1 阶段中 Yb（4–6 组后）、Sr（7–8 组后）分别重启，比值无明显偏移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台风天气导致 8 月上旬部分段拍频抖动增大，由随机效应模型 ξ 吸收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闭环原因：Sr 网络故障、Yb 失锁、频传断纤、断电、光梳失锁等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来源：docs/raw/8月光钟比对数据处理.docx；docs/raw/潮汐修正后的比值计算.docx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逐段钟比值偏差 y_i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Arial"/>
              </a:rPr>
              <a:t>17 段中心值围绕总体中心分布；各段已修正静态引力项 delta_g</a:t>
            </a:r>
          </a:p>
        </p:txBody>
      </p:sp>
      <p:pic>
        <p:nvPicPr>
          <p:cNvPr id="5" name="Picture 4" descr="fig1_ratio_seg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7863840" cy="3383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828800"/>
            <a:ext cx="3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y_i = R_i / R_seg1 − 1（×10⁻¹⁸）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时长加权均值：−0.482×10⁻¹⁸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算术均值：+0.102×10⁻¹⁸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段间散布 σ(y_i) = 2.98×10⁻¹⁸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逐段已扣除：静态引力红移、Sr/Yb 系统频移修正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逐段尚未做：时变潮汐修正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来源：clock_ratio/paper_figs/fig1_ratio_segments.png；correlation_reanalysis.csv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统计合并：四种方法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Arial"/>
              </a:rPr>
              <a:t>同一逐段 (R_i, u_i) 输入，比较 WLS / Birge / Mandel–Paule / 贝叶斯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1088136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6272"/>
                <a:gridCol w="2176272"/>
                <a:gridCol w="2176272"/>
                <a:gridCol w="2176272"/>
                <a:gridCol w="2176272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方法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对 excess scatter 的假设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额外散布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统计 u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中心值 Yb/Sr（未修正）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WLS（固定效应）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无额外散布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4.764×10⁻¹⁹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…7213(23)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Birge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u_i 统一放大 B=1.305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6.216×10⁻¹⁹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…7213(23)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Mandel–Paule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加 additive ξ²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ξ=1.604×10⁻¹⁸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6.521×10⁻¹⁹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…7214(23)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贝叶斯（采用）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ξ 为随机、传播后验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ξ=1.997×10⁻¹⁸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7.500×10⁻¹⁹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…7215(23)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6634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超额散布 χ²_red = 1.70（17 段，dof=16），说明 OADEV 未完全描述组间散布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四法中心值一致；不确定度由 WLS → Birge → M-P → 贝叶斯单调增大，采用最保守的贝叶斯值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来源：docs/raw/潮汐修正后的比值计算.docx §5；clock_ratio/statistical_methods_tidal.json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不确定度预算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Arial"/>
              </a:rPr>
              <a:t>贝叶斯统计不确定度 + 系统项（正交合成）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691640"/>
          <a:ext cx="603504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/>
                <a:gridCol w="301752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来源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不确定度 (×10⁻¹⁸)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Sr 钟系统项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0.92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Yb 钟系统项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1.10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静态引力红移（水准）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1.00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统计（贝叶斯）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0.75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tide model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NaN（未计入，待大地测量模型）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链路 / 光梳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0（&lt;1×10⁻¹⁹）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C0392B"/>
                          </a:solidFill>
                          <a:latin typeface="Arial"/>
                        </a:rPr>
                        <a:t>当前合计 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C0392B"/>
                          </a:solidFill>
                          <a:latin typeface="Arial"/>
                        </a:rPr>
                        <a:t>1.902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949440" y="1737360"/>
            <a:ext cx="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统计不确定度：0.75×10⁻¹⁸（贝叶斯，仅钟统计噪声）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钟系统合成：1.434×10⁻¹⁸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stat + clock sys subtotal：1.618×10⁻¹⁸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加静态引力项：1.902×10⁻¹⁸（当前合计）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tide model 项待大地测量模型不确定度确定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链路与光梳长期不稳定度低于钟噪声，贡献可忽略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来源：docs/raw/潮汐修正后的比值计算.docx §5.6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潮汐引力红移调制检出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Arial"/>
              </a:rPr>
              <a:t>逐段幅度拟合 + 跨段符号/Stouffer/Fisher 合并</a:t>
            </a:r>
          </a:p>
        </p:txBody>
      </p:sp>
      <p:pic>
        <p:nvPicPr>
          <p:cNvPr id="5" name="Picture 4" descr="fig2_tidal_det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37360"/>
            <a:ext cx="7863840" cy="33836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778240" y="1783080"/>
            <a:ext cx="3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潮汐拍频模板归一化到 F_1550 = 193.3992 THz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（非 1/COEF ≈ 233.53 THz）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单段 SNR ≈ 0.28，不显著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跨段合并：14/17 段同号（p=0.013）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Stouffer |z| = 5.87（p=4.3×10⁻⁹）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Fisher p = 2.2×10⁻⁶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精度加权幅度 A = −0.5397 ± 0.0843（≈6.4σ）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来源：clock_ratio/paper_figs/fig2_tidal_detection.png；clock/segment_analysis/batch_aggregate.csv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潮汐修正情景与内部一致性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Arial"/>
              </a:rPr>
              <a:t>固定响应系数：theory A=−1、empirical A=−0.54</a:t>
            </a:r>
          </a:p>
        </p:txBody>
      </p:sp>
      <p:pic>
        <p:nvPicPr>
          <p:cNvPr id="5" name="Picture 4" descr="fig3_corr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28800"/>
            <a:ext cx="5577840" cy="2400060"/>
          </a:xfrm>
          <a:prstGeom prst="rect">
            <a:avLst/>
          </a:prstGeom>
        </p:spPr>
      </p:pic>
      <p:pic>
        <p:nvPicPr>
          <p:cNvPr id="6" name="Picture 5" descr="fig4_methods_summa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828800"/>
            <a:ext cx="5486400" cy="236071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475488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修正后约化卡方 5.42 → 3.70（theory，−32%）；4.56（empirical，−16%）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段间离散度 σ(y_i)：2.980 → 2.596×10⁻¹⁸（约 −13%，12.9%±11.0%）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444444"/>
                </a:solidFill>
                <a:latin typeface="Arial"/>
              </a:rPr>
              <a:t>• 方向自检：A_fix=−0.54 时残差相关塌到 ~0、Stouffer z → +0.39（p=0.69）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来源：clock_ratio/statistical_methods_tidal.json；fig3/fig4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与其它 Yb/Sr 测定对比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Arial"/>
              </a:rPr>
              <a:t>三方中心值均在 5×10⁻¹⁸ 量级内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1828800"/>
          <a:ext cx="1088136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0340"/>
                <a:gridCol w="2720340"/>
                <a:gridCol w="2720340"/>
                <a:gridCol w="2720340"/>
              </a:tblGrid>
              <a:tr h="50292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测定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Yb/Sr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偏差 (×10⁻¹⁸)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备注</a:t>
                      </a:r>
                    </a:p>
                  </a:txBody>
                  <a:tcPr>
                    <a:solidFill>
                      <a:srgbClr val="2E6DA4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NIST–JILA（2026）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1.207 507 039 343 337 7230(37)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−1.7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同园区（NIST/JILA）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本工作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1.207 507 039 343 337 7213(23)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跨城、跨种（未修正）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欧洲网络（2026）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1.207 507 039 343 337 718(32)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+3.3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444444"/>
                          </a:solidFill>
                          <a:latin typeface="Arial"/>
                        </a:rPr>
                        <a:t>统计 u 较大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420624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Arial"/>
              </a:rPr>
              <a:t>• 本工作：跨机构、跨钟种、约 700 km 基线，独立于既有测定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Arial"/>
              </a:rPr>
              <a:t>• NIST–JILA 达 ≤3.2×10⁻¹⁸，但为同园区测量；欧洲网络最佳 7.7×10⁻¹⁸</a:t>
            </a:r>
          </a:p>
          <a:p>
            <a:pPr>
              <a:spcAft>
                <a:spcPts val="600"/>
              </a:spcAft>
            </a:pPr>
            <a:r>
              <a:rPr sz="1500" b="0">
                <a:solidFill>
                  <a:srgbClr val="444444"/>
                </a:solidFill>
                <a:latin typeface="Arial"/>
              </a:rPr>
              <a:t>• 结论：本工作为一独立、跨城的异种光钟比对，支撑秒重定义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来源：docs/raw/潮汐修正后的比值计算.docx §5；clock/潮汐修正后的比值计算.docx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数据处理流程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66928" y="1115568"/>
            <a:ext cx="1109441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>
                <a:solidFill>
                  <a:srgbClr val="888888"/>
                </a:solidFill>
                <a:latin typeface="Arial"/>
              </a:rPr>
              <a:t>从环外拍频到钟比值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6459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1. 原始环外拍频（FXE_B8，1 s）→ 依据两钟与拍频锁定状态划分区间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2. 段选取：去扣除 → 去 &gt;10 Hz 跳点 → 最长有效索引段 → 起止点裁剪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3. 钟激光频率修正：Sr 端 a = a_dens + a_lat + a_Z2 + a_BGC；Yb 端 b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4. 静态引力修正：delta_g = −3.1159×10⁻¹⁵（对应 ΔW = 280.042 m²/s²）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5. 逐点潮汐修正：30 s 潮汐网格线性插值到 1 s 拍频，逐点修正后段平均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6. 逐段 OADEV：拟合 128 s ≤ τ ≤ T/4，按 τ^(−1/2) 外推至 Teff → u_i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7. 四法合并：WLS / Birge / Mandel–Paule / 贝叶斯 → 中心值与统计不确定度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来源：docs/raw/光钟比对数据处理.docx；docs/raw/潮汐修正后的比值计算.docx；docs/METHODOLOGY.md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1109441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F3A5F"/>
                </a:solidFill>
                <a:latin typeface="Arial"/>
              </a:rPr>
              <a:t>已知限制与下一步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1078992"/>
            <a:ext cx="11094415" cy="45720"/>
          </a:xfrm>
          <a:prstGeom prst="rect">
            <a:avLst/>
          </a:prstGeom>
          <a:solidFill>
            <a:srgbClr val="2E6DA4"/>
          </a:solidFill>
          <a:ln>
            <a:noFill/>
          </a:ln>
        </p:spPr>
        <p:txBody>
          <a:bodyPr wrap="none">
            <a:spAutoFit/>
          </a:bodyPr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40080" y="1645920"/>
            <a:ext cx="10911535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逐段不确定度 u_i：OADEV 外推，flicker 地板使全体段系统性低估约 30–40%，个别段（5/6/16）异常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A=−0.54 的 DC 假设：来自历史去均值波形拟合，用于未去均值模板 DC 部分为额外假设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符号约定：A&lt;0 为指定响应约定，未新解决硬件极性问题（s_beat 未定死）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段 9 敏感性：剔除段 9 后潮汐补偿的 χ² 改善减弱或反号（须谨慎，暂保留全 17 段）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未含项：tide model 不确定度、链路/光梳（记为 0）、部分钟系统项</a:t>
            </a:r>
          </a:p>
          <a:p>
            <a:pPr>
              <a:spcAft>
                <a:spcPts val="600"/>
              </a:spcAft>
            </a:pPr>
            <a:r>
              <a:rPr sz="1600" b="0">
                <a:solidFill>
                  <a:srgbClr val="444444"/>
                </a:solidFill>
                <a:latin typeface="Arial"/>
              </a:rPr>
              <a:t>• 下一步：完成钟系统评估与大地测量模型不确定度 → 总不确定度定稿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26364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888888"/>
                </a:solidFill>
                <a:latin typeface="Arial"/>
              </a:rPr>
              <a:t>来源：docs/METHODOLOGY.md；docs/raw/光钟比对数据处理.docx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