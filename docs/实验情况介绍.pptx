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Arial"/>
              </a:rPr>
              <a:t>武汉—上海跨城光钟网络比对实验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E6DA4"/>
                </a:solidFill>
                <a:latin typeface="Arial"/>
              </a:rPr>
              <a:t>IAPMST 镱钟（武汉） × USTC 锶钟（上海）</a:t>
            </a:r>
          </a:p>
          <a:p>
            <a:r>
              <a:rPr sz="2000" b="0">
                <a:solidFill>
                  <a:srgbClr val="2E6DA4"/>
                </a:solidFill>
                <a:latin typeface="Arial"/>
              </a:rPr>
              <a:t>实验情况介绍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B3B3B"/>
                </a:solidFill>
                <a:latin typeface="Arial"/>
              </a:rPr>
              <a:t>数据：2026-06-29 — 2026-08-26（北京时间）· 17 个无跳点段 · 1,008,912 个 1 s 样本</a:t>
            </a:r>
          </a:p>
          <a:p>
            <a:r>
              <a:rPr sz="1400" b="0">
                <a:solidFill>
                  <a:srgbClr val="3B3B3B"/>
                </a:solidFill>
                <a:latin typeface="Arial"/>
              </a:rPr>
              <a:t>主结果：Yb/Sr = 1.207 507 039 343 337 7215(23)（潮汐修正后贝叶斯）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一、实验总体情况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跨机构、跨钟种、跨城光纤网络比对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网络：IAPMST 镱钟（武汉） ↔ USTC 锶钟（上海），不同机构、不同原子种类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距离：两地水平相距约 700 km；单程光纤约 1350 km（环回约 2700 km）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链路：相位稳定 1550 nm 电信光纤，沿线中继站净化放大（环回结构）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时间：2026-06-29 — 2026-08-26（北京时间），历时 58 天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数据：3 个测量阶段，17 个连续无跳点段，1,008,912 个 1 s 样本（280 h）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占空比：约 20%（受两钟与光梳链同时锁定门控）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静态引力势差：ΔW = 280.042 ± 0.085 m²/s²（水准测量，武汉高于上海）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来源：docs/raw/上研院…pptx；光钟比对论文 hj.docx；武汉-上海水准测量0930R1.docx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二、实验总体图与光纤链路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上行：上海 Sr 钟 → 1397 nm → 光梳 → 1550 nm；下行：武汉 1550 nm → 1156 nm → Yb 钟</a:t>
            </a:r>
          </a:p>
        </p:txBody>
      </p:sp>
      <p:pic>
        <p:nvPicPr>
          <p:cNvPr id="5" name="Picture 4" descr="batch_shared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2773186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上海端（Sr）：698 nm → 1397 nm 载波 → 光频梳 → 1550 nm 电信波段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武汉端（Yb）：接收 1550 nm → 光频梳与 1156 nm 基频光相干连接 → 578 nm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链路（环回）：上研院 → 苏州 → 无锡 → 常州 → 镇江 → 南京 → 滁州 → 合肥 → 六安 → 黄石 → 鄂州 → 精测院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单段长度 22–84 km；总单程约 1350 km，往返约 2700 km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链路附加不稳定度：&gt;100 s 尺度低于钟噪声（长期稳定度由两钟决定）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来源：docs/raw/上研院至武汉精测院光纤链路参数及设备安装情况(1).pptx；光钟比对论文 hj.docx §2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三、实验时间与阶段划分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三个测量阶段，跨 2 个月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阶段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时间段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对应段号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有效点数（s）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主要状态变化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第 1 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6.29 – 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约 359 970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Sr 重启、Yb 重启、频传重锁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第 2 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8.7 – 8.15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9 –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约 380 928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Sr 重锁、Yb 重锁、频传重锁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第 3 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8.21 – 8.26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15 –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约 271 303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新一轮、Yb 失锁结束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6.29 – 8.26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17 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1 009 022（起止点修正后）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7286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B3B3B"/>
                </a:solidFill>
                <a:latin typeface="Arial"/>
              </a:rPr>
              <a:t>• 分段依据：两台钟及各拍频的锁定状态；每段取最长连续无跳点数据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B3B3B"/>
                </a:solidFill>
                <a:latin typeface="Arial"/>
              </a:rPr>
              <a:t>• 起止点修正后用于比值计算的有效点数：1 009 022（原始与裁剪值逐段列出见后）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四、实验数据选择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从环外拍频到有效样本段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① 环外拍频：通道 FXE_B8，采样 1 s（北京时间；潮汐数据为 UTC，比对时 -8 h 对齐）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② 去跳点：以段内合理点中值为中心，剔除偏差 ≥ 10 Hz 的点（全部数据共 82 个跳点，8.20 后 32 个）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③ 去扣除区间：屏蔽已知不可用区间（clock/params.json）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④ 取最长有效索引段：按相邻索引取最长有效段（不强制时间连续）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⑤ 起止点裁剪：起点/终点偏离中值 &gt; 峰峰值 1% 则删去，向内逐点判断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⑥ 结果：17 段、1 008 912 s 保留样本（占空比约 20%）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来源：docs/raw/光钟比对数据处理.docx；docs/METHODOLOGY.md §0.2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五、17 组实验参数变化（3 套修正）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两钟激光频率修正项随实验更新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Sr 端（698 nm）：f_comb1397 = ½ (1+a) f_Sr，a = a_dens + a_lat + a_Z2 + a_BGC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三套参数变化之一：a_lat 项由 9.443012649117566×10⁻¹⁸ 更正为 7.44377658537123×10⁻¹⁸（7.21 更新）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Yb 端（578 nm）：f_comb1156 = ½ f_Yb (1+b)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三套参数变化之二：b 由 5.3×10⁻¹⁸ 更正为 (5.3 − 7.0)×10⁻¹⁸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静态高程差项：ΔW = 280.042 m²/s² → 剩余相对偏移 δ_g = −3.1159×10⁻¹⁵，(Yb/Sr)_corr = (Yb/Sr)_raw ×(1+δ_g)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三套参数变化之三：高程差由 280.049 更新为水准新值 280.042 m²/s²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塞曼频移：部分段为后补偿、部分段为实时补偿（随实验阶段变化）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来源：docs/raw/6.24-7.7光钟比对结果更新.docx；8月光钟比对数据处理.docx；武汉-上海水准测量0930R1.docx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六、17 组逐段数据一览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每段：起止时间、保留点数、潮汐幅度拟合 A_i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60020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段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起始（北京时）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n_i (s)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A_i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u_A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6.29 10:06:28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68,009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0.256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6.30 12:00:01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29,481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0.510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7.01 15:58:41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42,891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0.284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7.02 14:00:01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64,280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0.242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7.03 17:34:22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19,532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-1.847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0.799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7.04 19:30:46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52,140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0.271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7.05 13:00:01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39,526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0.470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7.06 21:45:16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43,565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+0.381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0.934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8.07 15:15:00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22,496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+2.560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2.866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8.07 22:15:00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57,938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0.379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8.09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35,824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1.431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8.10 12:47:06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40,346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0.403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8.11 05:30:00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152,994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0.211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8.13 18:56:58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68,618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-1.082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0.234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8.21 00:40:03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57,649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+0.148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0.705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8.21 23:20:01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147,640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0.391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8.25 15:09:41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65,983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-0.120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0.345</a:t>
                      </a:r>
                    </a:p>
                  </a:txBody>
                  <a:tcPr/>
                </a:tc>
              </a:tr>
              <a:tr h="2406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6.29 – 8.26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1,008,912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七、数据处理结果（1）：逐段钟比值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17 段中心值围绕总体中心；已修正静态引力项</a:t>
            </a:r>
          </a:p>
        </p:txBody>
      </p:sp>
      <p:pic>
        <p:nvPicPr>
          <p:cNvPr id="5" name="Picture 4" descr="fig1_ratio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772400" cy="33443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920240"/>
            <a:ext cx="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y_i = R_i / R_seg1 − 1（×10⁻¹⁸）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时长加权均值：−0.482×10⁻¹⁸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算术均值：+0.102×10⁻¹⁸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段间散布 σ(y_i) = 2.98×10⁻¹⁸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逐段已扣：静态引力、Sr/Yb 系统修正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逐段未做：时变潮汐修正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来源：clock_ratio/paper_figs/fig1_ratio_segments.png；correlation_reanalysis.csv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八、不同方法分析结果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同一逐段 (R_i, u_i) 输入：WLS / Birge / Mandel–Paule / 贝叶斯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方法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对 excess scatter 的假设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额外散布 ξ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统计 u (×10⁻¹⁸)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中心值 Yb/Sr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WLS（固定效应）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无额外散布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0.476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…7213(23)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Birge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u_i 统一放大 B=1.305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0.622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…7213(23)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Mandel–Paule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加 additive ξ²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1.604×10⁻¹⁸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0.652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…7214(23)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贝叶斯（采用）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ξ 为随机、传播后验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1.997×10⁻¹⁸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…7215(23)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7A46"/>
                </a:solidFill>
                <a:latin typeface="Arial"/>
              </a:rPr>
              <a:t>→ 四法中心值一致；不确定度由 WLS→Birge→M-P→贝叶斯单调增大；采用最保守的贝叶斯结果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超额散布 χ²_red = 1.70（17 段，dof=16，p=0.039），说明 OADEV 未完全描述组间随机散布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贝叶斯：μ 后验均值 −0.3516×10⁻¹⁸，SD = 0.750×10⁻¹⁸，68% CI = [−1.066, 0.365]×10⁻¹⁸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贝叶斯 ξ 后验均值 1.997×10⁻¹⁸（68% CI [1.172, 2.807]×10⁻¹⁸）；R̂(μ)=1.000，R̂(ξ)=1.0001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来源：docs/raw/潮汐修正后的比值计算.docx §5；clock_ratio/statistical_methods_tidal.json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八（续）、贝叶斯方法结果（采用）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随机效应模型：R_i ~ N(μ, u_i² + ξ²)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观测模型：R_i ~ N(μ, u_i² + ξ²)，μ 为真实 Yb/Sr 偏差、ξ 为组间额外散布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与 Mandel–Paule 的区别：M-P 给 ξ 一个确定值，贝叶斯给出 p(ξ|D) 整个后验分布并传播其不确定度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采样：MCMC，多链混合，Gelman–Rubin R̂(μ)=1.000、R̂(ξ)=1.0001（已收敛）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μ 后验均值 = −0.3516×10⁻¹⁸，后验标准差 = 0.750×10⁻¹⁸，68% 可信区间 [−1.066, 0.365]×10⁻¹⁸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B3B3B"/>
                </a:solidFill>
                <a:latin typeface="Arial"/>
              </a:rPr>
              <a:t>• ξ 后验均值 = 1.997×10⁻¹⁸（中值 1.949，68% CI [1.172, 2.807]×10⁻¹⁸）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Arial"/>
              </a:rPr>
              <a:t>贝叶斯中心值：Yb/Sr = 1.207 507 039 343 337 7215(23)；统计不确定度 0.750×10⁻¹⁸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九、引力潮汐影响分析（1）：方法与两段示例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段内 1200-s 三角窗拟合 beat = A·tide +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潮汐拍频模板：tide_beat = (ΔW/c²) × F_1550，F_1550 = 193.3992 THz（30 s 网格线性插值到 1 s）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归一化基准：F_1550（非 1/COEF ≈ 233.53 THz，否则 A 会被低估约 0.828 倍）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两段示例（幅度 A 与相关系数 r）：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段 1：A = −0.905 ± 0.256，r = −0.319（p = 0.001）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段 14：A = −1.082 ± 0.234，r = −0.401（p &lt; 0.001）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对比：段 9 为异常段，A = +2.560 ± 2.866（p = 0.385，不显著）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单段 SNR ≈ 0.28，任一段单独均不显著 → 需要跨段合并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来源：clock/segment_analysis/batch_summary.csv；docs/METHODOLOGY.md §5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九、引力潮汐影响分析（2）：跨段合并结果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17 段合并的符号一致性/Stouffer/Fisher 与幅度</a:t>
            </a:r>
          </a:p>
        </p:txBody>
      </p:sp>
      <p:pic>
        <p:nvPicPr>
          <p:cNvPr id="5" name="Picture 4" descr="fig2_tidal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772400" cy="33443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920240"/>
            <a:ext cx="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同号：14/17 段（二项 p = 0.013）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Stouffer |z| = 5.87（p = 4.3×10⁻⁹）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Fisher p = 2.2×10⁻⁶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合并幅度 A = −0.5397 ± 0.0843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B3B3B"/>
                </a:solidFill>
                <a:latin typeface="Arial"/>
              </a:rPr>
              <a:t>• ≈ 6.4σ（正确方向、约半个理论幅度）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来源：clock_ratio/paper_figs/fig2_tidal_detection.png；batch_aggregate.csv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十、潮汐修正数据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固定响应系数，不重新拟合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修正式：b_corr(t) = b_raw(t) − A·h(t)，h(t) = F_1550 · ΔW(t)/c²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情景 theory：A = −1（完全信任专业潮汐数据与广义相对论）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情景 empirical：A = −0.54（信任波形，用历史拟合幅度）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Arial"/>
              </a:rPr>
              <a:t>• 方向自检（不依赖未定的 s_beat 符号链）：A_fix = −0.54 时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残差段均值相关 r：−0.134 → +0.003；带符号 Stouffer z：−5.16 → +0.39（p = 0.69）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8A8A8A"/>
                </a:solidFill>
                <a:latin typeface="Arial"/>
              </a:rPr>
              <a:t>– 负相关段数：14/17 → 8/17（随机，p = 1.000）；网格扫描零点恰在 A ≈ −0.54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来源：docs/METHODOLOGY.md §9.1、§9.5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十一、潮汐修正后结果（1）：离散度与一致性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去除潮汐对段间常数偏移与组间一致性的影响</a:t>
            </a:r>
          </a:p>
        </p:txBody>
      </p:sp>
      <p:pic>
        <p:nvPicPr>
          <p:cNvPr id="5" name="Picture 4" descr="fig3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577840" cy="2400060"/>
          </a:xfrm>
          <a:prstGeom prst="rect">
            <a:avLst/>
          </a:prstGeom>
        </p:spPr>
      </p:pic>
      <p:pic>
        <p:nvPicPr>
          <p:cNvPr id="6" name="Picture 5" descr="fig4_method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5486400" cy="2360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段间离散度 σ(y_i)：2.980 → 2.596×10⁻¹⁸（empirical，约 −13%；jackknife 12.9%±11.0%）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Arial"/>
              </a:rPr>
              <a:t>• 约化卡方：raw 5.42 → theory 3.70（−31.8%）、empirical 4.56（−15.9%）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来源：clock_ratio/statistical_methods_tidal.json；fig3/fig4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十一、潮汐修正后结果（2）：长期稳定度变化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拼接 17 段为连续序列，比较三情景 OADEV</a:t>
            </a:r>
          </a:p>
        </p:txBody>
      </p:sp>
      <p:pic>
        <p:nvPicPr>
          <p:cNvPr id="5" name="Picture 4" descr="concatenated_stability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7772400" cy="4466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874519"/>
            <a:ext cx="3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3B3B3B"/>
                </a:solidFill>
                <a:latin typeface="Arial"/>
              </a:rPr>
              <a:t>• 短 τ（≤512 s）三线重合（潮汐是慢信号）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3B3B3B"/>
                </a:solidFill>
                <a:latin typeface="Arial"/>
              </a:rPr>
              <a:t>• 长 τ 处 empirical (A=−0.54) 最低：</a:t>
            </a:r>
          </a:p>
          <a:p>
            <a:pPr lvl="1">
              <a:spcAft>
                <a:spcPts val="900"/>
              </a:spcAft>
            </a:pPr>
            <a:r>
              <a:rPr sz="1100">
                <a:solidFill>
                  <a:srgbClr val="8A8A8A"/>
                </a:solidFill>
                <a:latin typeface="Arial"/>
              </a:rPr>
              <a:t>– τ=32768 s：8.14e-19 vs raw 8.36e-19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3B3B3B"/>
                </a:solidFill>
                <a:latin typeface="Arial"/>
              </a:rPr>
              <a:t>• theory (A=−1) 高于 raw（8.71e-19，过扣）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3B3B3B"/>
                </a:solidFill>
                <a:latin typeface="Arial"/>
              </a:rPr>
              <a:t>• 修正项（h/F_1550）随 τ 增大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来源：clock_ratio/concatenated_stability_long.png；EXPERIMENT_REPORT.md §9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十二、稳定度预算表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逐段 OADEV（τ 处）与比值统计不确定度汇总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段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MDEV（τ）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OADEV（τ）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段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MDEV（τ）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OADEV（τ）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3.288e-18@16384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1.479e-18@32768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1.697e-18@8192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2.033e-18@16384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4.048e-18@8192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5.888e-18@16384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6.415e-18@8192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3.568e-18@16384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4.660e-18@4096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6.031e-18@4096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1.869e-18@8192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3.216e-18@16384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4.444e-18@16384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4.439e-18@32768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2.596e-18@32768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4.565e-18@65536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1.499e-18@8192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2.726e-18@8192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4.019e-18@16384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1.090e-18@32768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3.150e-18@8192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4.650e-18@16384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8.802e-19@16384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2.951e-18@16384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2.195e-18@16384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3.802e-18@16384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1.126e-18@32768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1.055e-18@65536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1.326e-17@4096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8.345e-18@8192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6.962e-18@16384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6.838e-18@32768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3B3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2.137e-19@16384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3B3B"/>
                          </a:solidFill>
                          <a:latin typeface="Arial"/>
                        </a:rPr>
                        <a:t>1.405e-18@16384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来源：docs/raw/6.24-7.7光钟比对结果处理.docx、8月光钟比对数据处理.docx（MDEV/OADEV 随段列出）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十三、不确定度预算（分量）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贝叶斯统计 + 系统项（正交合成）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828800"/>
          <a:ext cx="9601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来源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不确定度 (×10⁻¹⁸)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说明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Sr 钟系统项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Sr 评估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Yb 钟系统项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Yb 评估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静态引力红移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水准 ±0.085 m²/s²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统计（贝叶斯）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仅钟统计噪声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tide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NaN（未计入）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待大地测量模型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链路 / 光梳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0 (&lt;1e-19)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由环外测量约束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B3B3B"/>
                          </a:solidFill>
                          <a:latin typeface="Arial"/>
                        </a:rPr>
                        <a:t>当前合计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1.902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B3B3B"/>
                          </a:solidFill>
                          <a:latin typeface="Arial"/>
                        </a:rPr>
                        <a:t>stat + 钟系统 + 高程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来源：docs/raw/潮汐修正后的比值计算.docx §5.6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十四、与其它 Yb/Sr 测定比较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三方中心值均在 5×10⁻¹⁸ 量级内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测定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Yb/Sr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与 NIST 偏差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备注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B3B3B"/>
                          </a:solidFill>
                          <a:latin typeface="Arial"/>
                        </a:rPr>
                        <a:t>NIST–JILA（2026）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1.207 507 039 343 337 7230(37)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同园区（NIST/JILA），≤3.2×10⁻¹⁸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B3B3B"/>
                          </a:solidFill>
                          <a:latin typeface="Arial"/>
                        </a:rPr>
                        <a:t>本工作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1.207 507 039 343 337 7215(23)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−1.5×10⁻¹⁸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跨城、跨种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B3B3B"/>
                          </a:solidFill>
                          <a:latin typeface="Arial"/>
                        </a:rPr>
                        <a:t>欧洲网络（2026）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1.207 507 039 343 337 718(32)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+3.5×10⁻¹⁸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Arial"/>
                        </a:rPr>
                        <a:t>网络比对，统计 u 较大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8056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B3B3B"/>
                </a:solidFill>
                <a:latin typeface="Arial"/>
              </a:rPr>
              <a:t>• 本工作：跨机构、跨钟种、约 700 km 基线，独立于既有测定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B3B3B"/>
                </a:solidFill>
                <a:latin typeface="Arial"/>
              </a:rPr>
              <a:t>• 结论：本工作为一独立、跨城的异种光钟比对，支撑秒重定义与地球参量监测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Arial"/>
              </a:rPr>
              <a:t>十五、问题（待补充）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911535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（留空，后续补充）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45775" cy="3200400"/>
          </a:xfrm>
          <a:prstGeom prst="rect">
            <a:avLst/>
          </a:prstGeom>
          <a:solidFill>
            <a:srgbClr val="F4F6F9"/>
          </a:solidFill>
          <a:ln>
            <a:solidFill>
              <a:srgbClr val="8A8A8A"/>
            </a:solidFill>
          </a:ln>
        </p:spPr>
        <p:txBody>
          <a:bodyPr wrap="square">
            <a:spAutoFit/>
          </a:bodyPr>
          <a:lstStyle/>
          <a:p/>
          <a:p/>
          <a:p>
            <a:r>
              <a:rPr sz="1600" b="0">
                <a:solidFill>
                  <a:srgbClr val="8A8A8A"/>
                </a:solidFill>
                <a:latin typeface="Arial"/>
              </a:rPr>
              <a:t>（本页留空，用于补充待解决的问题）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