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F1F"/>
                </a:solidFill>
                <a:latin typeface="Arial"/>
              </a:rPr>
              <a:t>十八、无潮汐修正的统计合并结果（17 段 raw 情景）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06060"/>
                </a:solidFill>
                <a:latin typeface="Arial"/>
              </a:rPr>
              <a:t>四种统计合并方法（每段 OADEV 外推 → u_i）作用于未做潮汐修正的逐段钟比值；参考：实验方 WLS 1.2075070393433377213(23)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27632"/>
          <a:ext cx="10744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1600200"/>
                <a:gridCol w="1691640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统计方法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Yb/Sr 中心值 R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统计不确定度 u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vs 实验方 (×10⁻¹⁸)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vs NIST (×10⁻¹⁸)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1F1F"/>
                          </a:solidFill>
                          <a:latin typeface="Arial"/>
                        </a:rPr>
                        <a:t>WLS（1/u_i²）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1.2075070393433377207972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2.748×10⁻19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-0.5028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-2.2028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1F1F"/>
                          </a:solidFill>
                          <a:latin typeface="Arial"/>
                        </a:rPr>
                        <a:t>Birge（B=2.329，1/u_i²）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1.2075070393433377207972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6.399×10⁻19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-0.5028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-2.2028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1F1F"/>
                          </a:solidFill>
                          <a:latin typeface="Arial"/>
                        </a:rPr>
                        <a:t>Mandel–Paule（1/(u_i²+ξ²)）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1.2075070393433377212874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7.550×10⁻19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-0.0126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-1.7126</a:t>
                      </a:r>
                    </a:p>
                  </a:txBody>
                  <a:tcPr marL="54864" marR="54864" marT="18288" marB="18288" anchor="ctr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1F1F"/>
                          </a:solidFill>
                          <a:latin typeface="Arial"/>
                        </a:rPr>
                        <a:t>贝叶斯（ξ 后验边缘化）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1.2075070393433377212838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8.002×10⁻19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-0.0162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1F1F"/>
                          </a:solidFill>
                          <a:latin typeface="Times New Roman"/>
                        </a:rPr>
                        <a:t>-1.7162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33087"/>
            <a:ext cx="10744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  <a:latin typeface="Arial"/>
              </a:rPr>
              <a:t>离散度 / 拟合优度：</a:t>
            </a:r>
            <a:r>
              <a:rPr sz="1500" b="0">
                <a:solidFill>
                  <a:srgbClr val="1F1F1F"/>
                </a:solidFill>
                <a:latin typeface="Arial"/>
              </a:rPr>
              <a:t>χ² = 86.78（dof = 16），χ²_red = 5.42，p(χ²) = 9.77e-12；Birge ratio B = 2.329；噪声地板 ξ_MP = 2.467e-18、ξ_贝叶斯 = 2.614e-18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47488"/>
            <a:ext cx="10744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1F1F1F"/>
                </a:solidFill>
                <a:latin typeface="Arial"/>
              </a:rPr>
              <a:t>• 中心值分两簇：WLS 与 Birge 同为 R≈…720797（u 不同）；M-P 与贝叶斯同为 R≈…721284（相差 3.6×10⁻²¹）</a:t>
            </a:r>
          </a:p>
          <a:p>
            <a:r>
              <a:rPr sz="1350" b="1">
                <a:solidFill>
                  <a:srgbClr val="C0392B"/>
                </a:solidFill>
                <a:latin typeface="Arial"/>
              </a:rPr>
              <a:t>• χ²_red = 5.42 ≫ 1（p≈9.8e−12）：组间超额散布显著，Birge 比 2.33 即随 χ²_red 膨胀不确定度；M-P/贝叶斯引入噪声地板 ξ≈2.5e−18 吸收散布</a:t>
            </a:r>
          </a:p>
          <a:p>
            <a:r>
              <a:rPr sz="1350" b="0">
                <a:solidFill>
                  <a:srgbClr val="606060"/>
                </a:solidFill>
                <a:latin typeface="Arial"/>
              </a:rPr>
              <a:t>• 口径：u_i 由 OADEV 外推（flicker 地板系统性低估 ~30–40% + 个别段 5/6/16 异常），合并值仅供方法比较，不作最终不确定度声明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06060"/>
                </a:solidFill>
                <a:latin typeface="Arial"/>
              </a:rPr>
              <a:t>来源：clock_ratio/statistical_methods.json（raw 情景，未做潮汐修正）。</a:t>
            </a:r>
          </a:p>
          <a:p>
            <a:r>
              <a:rPr sz="1000" b="0">
                <a:solidFill>
                  <a:srgbClr val="606060"/>
                </a:solidFill>
                <a:latin typeface="Arial"/>
              </a:rPr>
              <a:t>参考：实验方 WLS 1.2075070393433377213(23)、NIST 1.2075070393433377230(37)；R 按 ROUND_HALF_EVEN 舍入至小数点后 22 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