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47472"/>
            <a:ext cx="10908792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1F1F1F"/>
                </a:solidFill>
                <a:latin typeface="Arial"/>
              </a:rPr>
              <a:t>十七、计算参数三组对照（Sr 系统频移 shift_a）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115568"/>
            <a:ext cx="10908792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606060"/>
                </a:solidFill>
                <a:latin typeface="Arial"/>
              </a:rPr>
              <a:t>按 shift_a 五分量取值分组：1–8 一组、9 单独一组、10–17 一组（非按日期划分）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627632"/>
          <a:ext cx="10698480" cy="30358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20240"/>
                <a:gridCol w="3291840"/>
                <a:gridCol w="2194560"/>
                <a:gridCol w="3291840"/>
              </a:tblGrid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</a:rPr>
                        <a:t>分量</a:t>
                      </a:r>
                    </a:p>
                  </a:txBody>
                  <a:tcPr anchor="ctr" marL="45720" marR="45720" marT="9144" marB="9144">
                    <a:solidFill>
                      <a:srgbClr val="2E6DA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</a:rPr>
                        <a:t>组 1–8（n=8）</a:t>
                      </a:r>
                    </a:p>
                  </a:txBody>
                  <a:tcPr anchor="ctr" marL="45720" marR="45720" marT="9144" marB="9144">
                    <a:solidFill>
                      <a:srgbClr val="2E6DA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</a:rPr>
                        <a:t>组 9（n=1）</a:t>
                      </a:r>
                    </a:p>
                  </a:txBody>
                  <a:tcPr anchor="ctr" marL="45720" marR="45720" marT="9144" marB="9144">
                    <a:solidFill>
                      <a:srgbClr val="2E6DA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</a:rPr>
                        <a:t>组 10–17（n=8）</a:t>
                      </a:r>
                    </a:p>
                  </a:txBody>
                  <a:tcPr anchor="ctr" marL="45720" marR="45720" marT="9144" marB="9144">
                    <a:solidFill>
                      <a:srgbClr val="2E6DA4"/>
                    </a:solidFill>
                  </a:tcPr>
                </a:tc>
              </a:tr>
              <a:tr h="429768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1F1F1F"/>
                          </a:solidFill>
                          <a:latin typeface="Arial"/>
                        </a:rPr>
                        <a:t>a_rou</a:t>
                      </a:r>
                    </a:p>
                  </a:txBody>
                  <a:tcPr anchor="ctr" marL="45720" marR="45720" marT="9144" marB="9144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F1F1F"/>
                          </a:solidFill>
                          <a:latin typeface="Arial"/>
                        </a:rPr>
                        <a:t>−1.48 … −2.82e−19（逐段微变）</a:t>
                      </a:r>
                    </a:p>
                  </a:txBody>
                  <a:tcPr anchor="ctr" marL="45720" marR="45720" marT="9144" marB="9144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F1F1F"/>
                          </a:solidFill>
                          <a:latin typeface="Arial"/>
                        </a:rPr>
                        <a:t>−3.532e−19</a:t>
                      </a:r>
                    </a:p>
                  </a:txBody>
                  <a:tcPr anchor="ctr" marL="45720" marR="45720" marT="9144" marB="9144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F1F1F"/>
                          </a:solidFill>
                          <a:latin typeface="Arial"/>
                        </a:rPr>
                        <a:t>−3.42 … −3.53e−19</a:t>
                      </a:r>
                    </a:p>
                  </a:txBody>
                  <a:tcPr anchor="ctr" marL="45720" marR="45720" marT="9144" marB="9144"/>
                </a:tc>
              </a:tr>
              <a:tr h="429768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1F1F1F"/>
                          </a:solidFill>
                          <a:latin typeface="Arial"/>
                        </a:rPr>
                        <a:t>a_AC</a:t>
                      </a:r>
                    </a:p>
                  </a:txBody>
                  <a:tcPr anchor="ctr" marL="45720" marR="45720" marT="9144" marB="9144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F1F1F"/>
                          </a:solidFill>
                          <a:latin typeface="Arial"/>
                        </a:rPr>
                        <a:t>7.4438e−18（恒定）</a:t>
                      </a:r>
                    </a:p>
                  </a:txBody>
                  <a:tcPr anchor="ctr" marL="45720" marR="45720" marT="9144" marB="9144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F1F1F"/>
                          </a:solidFill>
                          <a:latin typeface="Arial"/>
                        </a:rPr>
                        <a:t>8.929e−18</a:t>
                      </a:r>
                    </a:p>
                  </a:txBody>
                  <a:tcPr anchor="ctr" marL="45720" marR="45720" marT="9144" marB="9144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F1F1F"/>
                          </a:solidFill>
                          <a:latin typeface="Arial"/>
                        </a:rPr>
                        <a:t>8.929e−18（恒定）</a:t>
                      </a:r>
                    </a:p>
                  </a:txBody>
                  <a:tcPr anchor="ctr" marL="45720" marR="45720" marT="9144" marB="9144"/>
                </a:tc>
              </a:tr>
              <a:tr h="429768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1F1F1F"/>
                          </a:solidFill>
                          <a:latin typeface="Arial"/>
                        </a:rPr>
                        <a:t>a_SM</a:t>
                      </a:r>
                    </a:p>
                  </a:txBody>
                  <a:tcPr anchor="ctr" marL="45720" marR="45720" marT="9144" marB="9144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F1F1F"/>
                          </a:solidFill>
                          <a:latin typeface="Arial"/>
                        </a:rPr>
                        <a:t>−1.7827 … −1.7862e−16（变化）</a:t>
                      </a:r>
                    </a:p>
                  </a:txBody>
                  <a:tcPr anchor="ctr" marL="45720" marR="45720" marT="9144" marB="9144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F1F1F"/>
                          </a:solidFill>
                          <a:latin typeface="Arial"/>
                        </a:rPr>
                        <a:t>−8.925e−17</a:t>
                      </a:r>
                    </a:p>
                  </a:txBody>
                  <a:tcPr anchor="ctr" marL="45720" marR="45720" marT="9144" marB="9144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F1F1F"/>
                          </a:solidFill>
                          <a:latin typeface="Arial"/>
                        </a:rPr>
                        <a:t>0（恒定）</a:t>
                      </a:r>
                    </a:p>
                  </a:txBody>
                  <a:tcPr anchor="ctr" marL="45720" marR="45720" marT="9144" marB="9144"/>
                </a:tc>
              </a:tr>
              <a:tr h="429768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1F1F1F"/>
                          </a:solidFill>
                          <a:latin typeface="Arial"/>
                        </a:rPr>
                        <a:t>a_air</a:t>
                      </a:r>
                    </a:p>
                  </a:txBody>
                  <a:tcPr anchor="ctr" marL="45720" marR="45720" marT="9144" marB="9144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F1F1F"/>
                          </a:solidFill>
                          <a:latin typeface="Arial"/>
                        </a:rPr>
                        <a:t>−6.7e−19（恒定）</a:t>
                      </a:r>
                    </a:p>
                  </a:txBody>
                  <a:tcPr anchor="ctr" marL="45720" marR="45720" marT="9144" marB="9144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F1F1F"/>
                          </a:solidFill>
                          <a:latin typeface="Arial"/>
                        </a:rPr>
                        <a:t>−6.7e−19</a:t>
                      </a:r>
                    </a:p>
                  </a:txBody>
                  <a:tcPr anchor="ctr" marL="45720" marR="45720" marT="9144" marB="9144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F1F1F"/>
                          </a:solidFill>
                          <a:latin typeface="Arial"/>
                        </a:rPr>
                        <a:t>−6.7e−19（恒定）</a:t>
                      </a:r>
                    </a:p>
                  </a:txBody>
                  <a:tcPr anchor="ctr" marL="45720" marR="45720" marT="9144" marB="9144"/>
                </a:tc>
              </a:tr>
              <a:tr h="429768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1F1F1F"/>
                          </a:solidFill>
                          <a:latin typeface="Arial"/>
                        </a:rPr>
                        <a:t>a_BBR</a:t>
                      </a:r>
                    </a:p>
                  </a:txBody>
                  <a:tcPr anchor="ctr" marL="45720" marR="45720" marT="9144" marB="9144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F1F1F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anchor="ctr" marL="45720" marR="45720" marT="9144" marB="9144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F1F1F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anchor="ctr" marL="45720" marR="45720" marT="9144" marB="9144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F1F1F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anchor="ctr" marL="45720" marR="45720" marT="9144" marB="9144"/>
                </a:tc>
              </a:tr>
              <a:tr h="429768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1F1F1F"/>
                          </a:solidFill>
                          <a:latin typeface="Arial"/>
                        </a:rPr>
                        <a:t>shift_a</a:t>
                      </a:r>
                    </a:p>
                  </a:txBody>
                  <a:tcPr anchor="ctr" marL="45720" marR="45720" marT="9144" marB="9144">
                    <a:solidFill>
                      <a:srgbClr val="FBEE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C0392B"/>
                          </a:solidFill>
                          <a:latin typeface="Arial"/>
                        </a:rPr>
                        <a:t>≈ −1.7194e−16</a:t>
                      </a:r>
                    </a:p>
                  </a:txBody>
                  <a:tcPr anchor="ctr" marL="45720" marR="45720" marT="9144" marB="9144">
                    <a:solidFill>
                      <a:srgbClr val="FBEE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C0392B"/>
                          </a:solidFill>
                          <a:latin typeface="Arial"/>
                        </a:rPr>
                        <a:t>−8.1344e−17</a:t>
                      </a:r>
                    </a:p>
                  </a:txBody>
                  <a:tcPr anchor="ctr" marL="45720" marR="45720" marT="9144" marB="9144">
                    <a:solidFill>
                      <a:srgbClr val="FBEE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C0392B"/>
                          </a:solidFill>
                          <a:latin typeface="Arial"/>
                        </a:rPr>
                        <a:t>≈ +7.914e−18</a:t>
                      </a:r>
                    </a:p>
                  </a:txBody>
                  <a:tcPr anchor="ctr" marL="45720" marR="45720" marT="9144" marB="9144">
                    <a:solidFill>
                      <a:srgbClr val="FBEEEC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31520" y="4846320"/>
            <a:ext cx="10725912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1F1F1F"/>
                </a:solidFill>
                <a:latin typeface="Arial"/>
              </a:rPr>
              <a:t>• a_AC 是分组开关：1–8 组为 7.444e−18，第 9 段起改为 8.929e−18（后两组相同）</a:t>
            </a:r>
          </a:p>
          <a:p>
            <a:pPr algn="l"/>
            <a:r>
              <a:rPr sz="1500" b="0">
                <a:solidFill>
                  <a:srgbClr val="1F1F1F"/>
                </a:solidFill>
                <a:latin typeface="Arial"/>
              </a:rPr>
              <a:t>• a_SM 三态：组 1–8 ≈ −1.785e−16（逐段微变）→ 组 9 = −8.925e−17（过渡段）→ 组 10–17 = 0（恒值）</a:t>
            </a:r>
          </a:p>
          <a:p>
            <a:pPr algn="l"/>
            <a:r>
              <a:rPr sz="1500" b="1">
                <a:solidFill>
                  <a:srgbClr val="C0392B"/>
                </a:solidFill>
                <a:latin typeface="Arial"/>
              </a:rPr>
              <a:t>• shift_a 量级三跳：−1.72e−16 → −8.13e−17（约一半）→ +7.9e−18（反号、小两个数量级）；第 9 段是两轮参数间的过渡段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1072591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606060"/>
                </a:solidFill>
                <a:latin typeface="Arial"/>
              </a:rPr>
              <a:t>来源：clock/params.json（shift_a 五分量）；段 15–17 沿用段 12–14 常数。注：组 10–17 的 a_SM=0 在源码中标注“可能为占位符”。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